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0" r:id="rId3"/>
    <p:sldId id="270" r:id="rId4"/>
    <p:sldId id="271" r:id="rId5"/>
    <p:sldId id="272" r:id="rId6"/>
    <p:sldId id="273" r:id="rId7"/>
    <p:sldId id="275" r:id="rId8"/>
    <p:sldId id="265" r:id="rId9"/>
    <p:sldId id="274" r:id="rId10"/>
    <p:sldId id="268" r:id="rId11"/>
    <p:sldId id="277" r:id="rId12"/>
    <p:sldId id="276" r:id="rId13"/>
    <p:sldId id="269" r:id="rId14"/>
    <p:sldId id="267" r:id="rId15"/>
    <p:sldId id="261" r:id="rId16"/>
  </p:sldIdLst>
  <p:sldSz cx="18288000" cy="10287000"/>
  <p:notesSz cx="6858000" cy="9144000"/>
  <p:embeddedFontLst>
    <p:embeddedFont>
      <p:font typeface="Poppins Medium" panose="00000600000000000000"/>
      <p:regular r:id="rId20"/>
      <p:italic r:id="rId21"/>
    </p:embeddedFont>
    <p:embeddedFont>
      <p:font typeface="Poppins Medium" panose="00000600000000000000" pitchFamily="2" charset="0"/>
      <p:regular r:id="rId22"/>
      <p:italic r:id="rId23"/>
    </p:embeddedFont>
    <p:embeddedFont>
      <p:font typeface="Tahoma" panose="020B0604030504040204"/>
      <p:regular r:id="rId24"/>
      <p:bold r:id="rId25"/>
    </p:embeddedFont>
    <p:embeddedFont>
      <p:font typeface="Calibri" panose="020F0502020204030204"/>
      <p:regular r:id="rId26"/>
      <p:bold r:id="rId27"/>
      <p:italic r:id="rId28"/>
      <p:boldItalic r:id="rId29"/>
    </p:embeddedFont>
    <p:embeddedFont>
      <p:font typeface="Poppins Medium Bold" panose="00000700000000000000"/>
      <p:bold r:id="rId30"/>
    </p:embeddedFont>
    <p:embeddedFont>
      <p:font typeface="Calibri" panose="020F0502020204030204"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2" d="100"/>
          <a:sy n="52" d="100"/>
        </p:scale>
        <p:origin x="104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font" Target="fonts/font15.fntdata"/><Relationship Id="rId33" Type="http://schemas.openxmlformats.org/officeDocument/2006/relationships/font" Target="fonts/font14.fntdata"/><Relationship Id="rId32" Type="http://schemas.openxmlformats.org/officeDocument/2006/relationships/font" Target="fonts/font13.fntdata"/><Relationship Id="rId31" Type="http://schemas.openxmlformats.org/officeDocument/2006/relationships/font" Target="fonts/font12.fntdata"/><Relationship Id="rId30" Type="http://schemas.openxmlformats.org/officeDocument/2006/relationships/font" Target="fonts/font11.fntdata"/><Relationship Id="rId3" Type="http://schemas.openxmlformats.org/officeDocument/2006/relationships/slide" Target="slides/slide1.xml"/><Relationship Id="rId29" Type="http://schemas.openxmlformats.org/officeDocument/2006/relationships/font" Target="fonts/font10.fntdata"/><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microsoft.com/office/2007/relationships/hdphoto" Target="../media/image7.wdp"/><Relationship Id="rId2" Type="http://schemas.openxmlformats.org/officeDocument/2006/relationships/image" Target="../media/image6.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jpe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docs.google.com/document/d/1J9yHM5nkYmDYXMcevlm88TXUr9_z1s0R/edit?usp=sharing&amp;ouid=110038836070987119073&amp;rtpof=true&amp;sd=true" TargetMode="External"/><Relationship Id="rId2" Type="http://schemas.openxmlformats.org/officeDocument/2006/relationships/hyperlink" Target="https://delinea.com/blog/cyber-security-incident-response-plan-template" TargetMode="Externa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2286" y="0"/>
            <a:ext cx="18285714" cy="10285714"/>
            <a:chOff x="2286" y="0"/>
            <a:chExt cx="18285714" cy="10285714"/>
          </a:xfrm>
        </p:grpSpPr>
        <p:pic>
          <p:nvPicPr>
            <p:cNvPr id="3" name="Picture 2" descr="A blue square with white lines&#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 y="0"/>
              <a:ext cx="18285714" cy="10285714"/>
            </a:xfrm>
            <a:prstGeom prst="rect">
              <a:avLst/>
            </a:prstGeom>
          </p:spPr>
        </p:pic>
        <p:grpSp>
          <p:nvGrpSpPr>
            <p:cNvPr id="4" name="Group 31"/>
            <p:cNvGrpSpPr/>
            <p:nvPr/>
          </p:nvGrpSpPr>
          <p:grpSpPr>
            <a:xfrm>
              <a:off x="1739900" y="2997200"/>
              <a:ext cx="14173200" cy="2806584"/>
              <a:chOff x="-691399" y="303742"/>
              <a:chExt cx="14029115" cy="3742113"/>
            </a:xfrm>
          </p:grpSpPr>
          <p:sp>
            <p:nvSpPr>
              <p:cNvPr id="5" name="TextBox 32"/>
              <p:cNvSpPr txBox="1"/>
              <p:nvPr/>
            </p:nvSpPr>
            <p:spPr>
              <a:xfrm>
                <a:off x="759417" y="2233393"/>
                <a:ext cx="11217660" cy="1812462"/>
              </a:xfrm>
              <a:prstGeom prst="rect">
                <a:avLst/>
              </a:prstGeom>
            </p:spPr>
            <p:txBody>
              <a:bodyPr lIns="0" tIns="0" rIns="0" bIns="0" rtlCol="0" anchor="t">
                <a:spAutoFit/>
              </a:bodyPr>
              <a:lstStyle/>
              <a:p>
                <a:pPr algn="ctr">
                  <a:lnSpc>
                    <a:spcPts val="5310"/>
                  </a:lnSpc>
                </a:pPr>
                <a:r>
                  <a:rPr lang="en-US" sz="4450" b="1" spc="-125" dirty="0">
                    <a:solidFill>
                      <a:srgbClr val="FFFFFF"/>
                    </a:solidFill>
                    <a:latin typeface="Poppins Medium" panose="00000600000000000000"/>
                  </a:rPr>
                  <a:t>PRIVILEGED ACCOUNT COMPROMISE RESPONSE</a:t>
                </a:r>
                <a:endParaRPr lang="en-US" sz="4450" b="1" spc="-125" dirty="0">
                  <a:solidFill>
                    <a:srgbClr val="FFFFFF"/>
                  </a:solidFill>
                  <a:latin typeface="Poppins Medium" panose="00000600000000000000"/>
                </a:endParaRPr>
              </a:p>
            </p:txBody>
          </p:sp>
          <p:sp>
            <p:nvSpPr>
              <p:cNvPr id="6" name="TextBox 33"/>
              <p:cNvSpPr txBox="1"/>
              <p:nvPr/>
            </p:nvSpPr>
            <p:spPr>
              <a:xfrm>
                <a:off x="-691399" y="303742"/>
                <a:ext cx="14029115" cy="1614802"/>
              </a:xfrm>
              <a:prstGeom prst="rect">
                <a:avLst/>
              </a:prstGeom>
            </p:spPr>
            <p:txBody>
              <a:bodyPr wrap="square" lIns="0" tIns="0" rIns="0" bIns="0" rtlCol="0" anchor="t">
                <a:spAutoFit/>
              </a:bodyPr>
              <a:lstStyle/>
              <a:p>
                <a:pPr algn="ctr">
                  <a:lnSpc>
                    <a:spcPts val="10800"/>
                  </a:lnSpc>
                </a:pPr>
                <a:r>
                  <a:rPr lang="en-US" sz="4800" b="1" spc="-420" dirty="0">
                    <a:solidFill>
                      <a:srgbClr val="FFFFFF"/>
                    </a:solidFill>
                    <a:latin typeface="Poppins Medium" panose="00000600000000000000"/>
                  </a:rPr>
                  <a:t>Cyber Girls 4 . 0 Open Day Project</a:t>
                </a:r>
                <a:endParaRPr lang="en-US" sz="4800" b="1" spc="-420" dirty="0">
                  <a:solidFill>
                    <a:srgbClr val="FFFFFF"/>
                  </a:solidFill>
                  <a:latin typeface="Poppins Medium" panose="00000600000000000000"/>
                  <a:cs typeface="Poppins Medium" panose="00000600000000000000"/>
                </a:endParaRPr>
              </a:p>
            </p:txBody>
          </p:sp>
        </p:grpSp>
        <p:sp>
          <p:nvSpPr>
            <p:cNvPr id="2" name="TextBox 33"/>
            <p:cNvSpPr txBox="1"/>
            <p:nvPr/>
          </p:nvSpPr>
          <p:spPr>
            <a:xfrm>
              <a:off x="3810000" y="6828944"/>
              <a:ext cx="4173208" cy="585288"/>
            </a:xfrm>
            <a:prstGeom prst="rect">
              <a:avLst/>
            </a:prstGeom>
          </p:spPr>
          <p:txBody>
            <a:bodyPr wrap="square" lIns="0" tIns="0" rIns="0" bIns="0" rtlCol="0" anchor="t">
              <a:spAutoFit/>
            </a:bodyPr>
            <a:lstStyle/>
            <a:p>
              <a:pPr>
                <a:lnSpc>
                  <a:spcPct val="150000"/>
                </a:lnSpc>
              </a:pPr>
              <a:r>
                <a:rPr lang="en-US" sz="2800" b="1" dirty="0">
                  <a:solidFill>
                    <a:schemeClr val="bg1"/>
                  </a:solidFill>
                  <a:latin typeface="Poppins Medium" panose="00000600000000000000"/>
                  <a:ea typeface="MS Mincho"/>
                  <a:cs typeface="Poppins Medium" panose="00000600000000000000"/>
                </a:rPr>
                <a:t>Group Number: 16</a:t>
              </a:r>
              <a:endParaRPr lang="en-US" sz="2800" b="1" dirty="0">
                <a:solidFill>
                  <a:schemeClr val="bg1"/>
                </a:solidFill>
                <a:effectLst/>
                <a:latin typeface="Poppins Medium" panose="00000600000000000000"/>
                <a:ea typeface="MS Mincho" panose="02020609040205080304" pitchFamily="49" charset="-128"/>
                <a:cs typeface="Poppins Medium" panose="00000600000000000000"/>
              </a:endParaRPr>
            </a:p>
          </p:txBody>
        </p:sp>
      </p:grpSp>
      <p:sp>
        <p:nvSpPr>
          <p:cNvPr id="8" name="TextBox 7"/>
          <p:cNvSpPr txBox="1"/>
          <p:nvPr/>
        </p:nvSpPr>
        <p:spPr>
          <a:xfrm>
            <a:off x="3566288" y="7689001"/>
            <a:ext cx="441692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12700" marR="5080">
              <a:spcBef>
                <a:spcPts val="100"/>
              </a:spcBef>
            </a:pPr>
            <a:r>
              <a:rPr lang="en-US" sz="2400" dirty="0">
                <a:solidFill>
                  <a:srgbClr val="FFFFFF"/>
                </a:solidFill>
                <a:latin typeface="Poppins Medium" panose="00000600000000000000" pitchFamily="2" charset="0"/>
                <a:ea typeface="Tahoma" panose="020B0604030504040204"/>
                <a:cs typeface="Poppins Medium" panose="00000600000000000000" pitchFamily="2" charset="0"/>
              </a:rPr>
              <a:t>Names: </a:t>
            </a:r>
            <a:br>
              <a:rPr lang="en-US" sz="2400" dirty="0">
                <a:latin typeface="Poppins Medium" panose="00000600000000000000" pitchFamily="2" charset="0"/>
                <a:ea typeface="Tahoma" panose="020B0604030504040204"/>
                <a:cs typeface="Poppins Medium" panose="00000600000000000000" pitchFamily="2" charset="0"/>
              </a:rPr>
            </a:br>
            <a:r>
              <a:rPr lang="en-US" sz="2400" dirty="0">
                <a:solidFill>
                  <a:srgbClr val="FFFFFF"/>
                </a:solidFill>
                <a:latin typeface="Poppins Medium" panose="00000600000000000000" pitchFamily="2" charset="0"/>
                <a:ea typeface="Tahoma" panose="020B0604030504040204"/>
                <a:cs typeface="Poppins Medium" panose="00000600000000000000" pitchFamily="2" charset="0"/>
              </a:rPr>
              <a:t>1. Comfort Ukangwobia</a:t>
            </a:r>
            <a:endParaRPr lang="en-US" sz="2400" dirty="0">
              <a:latin typeface="Poppins Medium" panose="00000600000000000000" pitchFamily="2" charset="0"/>
              <a:ea typeface="Tahoma" panose="020B0604030504040204"/>
              <a:cs typeface="Poppins Medium" panose="00000600000000000000" pitchFamily="2" charset="0"/>
            </a:endParaRPr>
          </a:p>
          <a:p>
            <a:pPr marL="12700">
              <a:spcBef>
                <a:spcPts val="5"/>
              </a:spcBef>
            </a:pPr>
            <a:r>
              <a:rPr lang="en-US" sz="2400" dirty="0">
                <a:solidFill>
                  <a:srgbClr val="FFFFFF"/>
                </a:solidFill>
                <a:latin typeface="Poppins Medium" panose="00000600000000000000" pitchFamily="2" charset="0"/>
                <a:ea typeface="Tahoma" panose="020B0604030504040204"/>
                <a:cs typeface="Poppins Medium" panose="00000600000000000000" pitchFamily="2" charset="0"/>
              </a:rPr>
              <a:t>2. </a:t>
            </a:r>
            <a:r>
              <a:rPr lang="en-US" sz="2400" dirty="0" err="1">
                <a:solidFill>
                  <a:srgbClr val="FFFFFF"/>
                </a:solidFill>
                <a:latin typeface="Poppins Medium" panose="00000600000000000000" pitchFamily="2" charset="0"/>
                <a:ea typeface="Tahoma" panose="020B0604030504040204"/>
                <a:cs typeface="Poppins Medium" panose="00000600000000000000" pitchFamily="2" charset="0"/>
              </a:rPr>
              <a:t>Oghenetejiri</a:t>
            </a:r>
            <a:r>
              <a:rPr lang="en-US" sz="2400" dirty="0">
                <a:solidFill>
                  <a:srgbClr val="FFFFFF"/>
                </a:solidFill>
                <a:latin typeface="Poppins Medium" panose="00000600000000000000" pitchFamily="2" charset="0"/>
                <a:ea typeface="Tahoma" panose="020B0604030504040204"/>
                <a:cs typeface="Poppins Medium" panose="00000600000000000000" pitchFamily="2" charset="0"/>
              </a:rPr>
              <a:t> Brume</a:t>
            </a:r>
            <a:endParaRPr lang="en-US" sz="2400" dirty="0">
              <a:latin typeface="Poppins Medium" panose="00000600000000000000" pitchFamily="2" charset="0"/>
              <a:ea typeface="Tahoma" panose="020B0604030504040204"/>
              <a:cs typeface="Poppins Medium" panose="00000600000000000000" pitchFamily="2" charset="0"/>
            </a:endParaRPr>
          </a:p>
          <a:p>
            <a:pPr marL="12700"/>
            <a:r>
              <a:rPr lang="en-US" sz="2400" dirty="0">
                <a:solidFill>
                  <a:srgbClr val="FFFFFF"/>
                </a:solidFill>
                <a:latin typeface="Poppins Medium" panose="00000600000000000000" pitchFamily="2" charset="0"/>
                <a:ea typeface="Tahoma" panose="020B0604030504040204"/>
                <a:cs typeface="Poppins Medium" panose="00000600000000000000" pitchFamily="2" charset="0"/>
              </a:rPr>
              <a:t>3. Chinwe Domitila </a:t>
            </a:r>
            <a:r>
              <a:rPr lang="en-US" sz="2400" dirty="0" err="1">
                <a:solidFill>
                  <a:srgbClr val="FFFFFF"/>
                </a:solidFill>
                <a:latin typeface="Poppins Medium" panose="00000600000000000000" pitchFamily="2" charset="0"/>
                <a:ea typeface="Tahoma" panose="020B0604030504040204"/>
                <a:cs typeface="Poppins Medium" panose="00000600000000000000" pitchFamily="2" charset="0"/>
              </a:rPr>
              <a:t>Ayiba</a:t>
            </a:r>
            <a:endParaRPr lang="en-US" sz="2400" dirty="0">
              <a:latin typeface="Poppins Medium" panose="00000600000000000000" pitchFamily="2" charset="0"/>
              <a:ea typeface="Tahoma" panose="020B0604030504040204"/>
              <a:cs typeface="Poppins Medium" panose="00000600000000000000" pitchFamily="2" charset="0"/>
            </a:endParaRPr>
          </a:p>
          <a:p>
            <a:pPr marL="12700"/>
            <a:r>
              <a:rPr lang="en-US" sz="2400" dirty="0">
                <a:solidFill>
                  <a:srgbClr val="FFFFFF"/>
                </a:solidFill>
                <a:latin typeface="Poppins Medium" panose="00000600000000000000" pitchFamily="2" charset="0"/>
                <a:ea typeface="Tahoma" panose="020B0604030504040204"/>
                <a:cs typeface="Poppins Medium" panose="00000600000000000000" pitchFamily="2" charset="0"/>
              </a:rPr>
              <a:t>4. Gift David </a:t>
            </a:r>
            <a:r>
              <a:rPr lang="en-US" sz="2400" dirty="0" err="1">
                <a:solidFill>
                  <a:srgbClr val="FFFFFF"/>
                </a:solidFill>
                <a:latin typeface="Poppins Medium" panose="00000600000000000000" pitchFamily="2" charset="0"/>
                <a:ea typeface="Tahoma" panose="020B0604030504040204"/>
                <a:cs typeface="Poppins Medium" panose="00000600000000000000" pitchFamily="2" charset="0"/>
              </a:rPr>
              <a:t>Dappa</a:t>
            </a:r>
            <a:endParaRPr lang="en-US" sz="2400" dirty="0">
              <a:latin typeface="Poppins Medium" panose="00000600000000000000" pitchFamily="2" charset="0"/>
              <a:ea typeface="Tahoma" panose="020B0604030504040204"/>
              <a:cs typeface="Poppins Medium" panose="00000600000000000000" pitchFamily="2" charset="0"/>
            </a:endParaRPr>
          </a:p>
          <a:p>
            <a:pPr marL="12700"/>
            <a:r>
              <a:rPr lang="en-US" sz="2400" dirty="0">
                <a:solidFill>
                  <a:srgbClr val="FFFFFF"/>
                </a:solidFill>
                <a:latin typeface="Poppins Medium" panose="00000600000000000000" pitchFamily="2" charset="0"/>
                <a:ea typeface="Tahoma" panose="020B0604030504040204"/>
                <a:cs typeface="Poppins Medium" panose="00000600000000000000" pitchFamily="2" charset="0"/>
              </a:rPr>
              <a:t>5. Precious Sunday</a:t>
            </a:r>
            <a:endParaRPr lang="en-US" sz="2400" dirty="0">
              <a:latin typeface="Poppins Medium" panose="00000600000000000000" pitchFamily="2" charset="0"/>
              <a:ea typeface="Tahoma" panose="020B0604030504040204"/>
              <a:cs typeface="Poppins Medium" panose="00000600000000000000" pitchFamily="2" charset="0"/>
            </a:endParaRPr>
          </a:p>
          <a:p>
            <a:pPr algn="l"/>
            <a:endParaRPr lang="en-US" dirty="0">
              <a:latin typeface="Times New Roman" panose="02020603050405020304" pitchFamily="18" charset="0"/>
              <a:ea typeface="Calibri" panose="020F0502020204030204"/>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14300"/>
            <a:ext cx="18285714" cy="10285714"/>
          </a:xfrm>
          <a:prstGeom prst="rect">
            <a:avLst/>
          </a:prstGeom>
        </p:spPr>
      </p:pic>
      <p:sp>
        <p:nvSpPr>
          <p:cNvPr id="4" name="TextBox 21"/>
          <p:cNvSpPr txBox="1"/>
          <p:nvPr/>
        </p:nvSpPr>
        <p:spPr>
          <a:xfrm>
            <a:off x="1676400" y="4381500"/>
            <a:ext cx="14683684" cy="834844"/>
          </a:xfrm>
          <a:prstGeom prst="rect">
            <a:avLst/>
          </a:prstGeom>
        </p:spPr>
        <p:txBody>
          <a:bodyPr wrap="square" lIns="0" tIns="0" rIns="0" bIns="0" rtlCol="0" anchor="t">
            <a:spAutoFit/>
          </a:bodyPr>
          <a:lstStyle/>
          <a:p>
            <a:pPr lvl="0" algn="just">
              <a:lnSpc>
                <a:spcPct val="200000"/>
              </a:lnSpc>
            </a:pP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22"/>
          <p:cNvSpPr txBox="1"/>
          <p:nvPr/>
        </p:nvSpPr>
        <p:spPr>
          <a:xfrm>
            <a:off x="838200" y="3238500"/>
            <a:ext cx="15773400" cy="7063472"/>
          </a:xfrm>
          <a:prstGeom prst="rect">
            <a:avLst/>
          </a:prstGeom>
        </p:spPr>
        <p:txBody>
          <a:bodyPr wrap="square" lIns="0" tIns="0" rIns="0" bIns="0" rtlCol="0" anchor="t">
            <a:spAutoFit/>
          </a:bodyPr>
          <a:lstStyle/>
          <a:p>
            <a:pPr>
              <a:lnSpc>
                <a:spcPts val="3000"/>
              </a:lnSpc>
            </a:pPr>
            <a:r>
              <a:rPr lang="en-US" sz="3200" b="1" spc="-89" dirty="0">
                <a:solidFill>
                  <a:srgbClr val="000000"/>
                </a:solidFill>
                <a:latin typeface="Times New Roman" panose="02020603050405020304" pitchFamily="18" charset="0"/>
                <a:cs typeface="Times New Roman" panose="02020603050405020304" pitchFamily="18" charset="0"/>
              </a:rPr>
              <a:t>Overview:</a:t>
            </a:r>
            <a:endParaRPr lang="en-US" sz="3200" b="1" spc="-89" dirty="0">
              <a:solidFill>
                <a:srgbClr val="000000"/>
              </a:solidFill>
              <a:latin typeface="Times New Roman" panose="02020603050405020304" pitchFamily="18" charset="0"/>
              <a:cs typeface="Times New Roman" panose="02020603050405020304" pitchFamily="18" charset="0"/>
            </a:endParaRPr>
          </a:p>
          <a:p>
            <a:pPr>
              <a:lnSpc>
                <a:spcPct val="200000"/>
              </a:lnSpc>
            </a:pPr>
            <a:r>
              <a:rPr lang="en-US" sz="3200" b="0" i="0" dirty="0">
                <a:solidFill>
                  <a:srgbClr val="202124"/>
                </a:solidFill>
                <a:effectLst/>
                <a:highlight>
                  <a:srgbClr val="FFFFFF"/>
                </a:highlight>
                <a:latin typeface="Times New Roman" panose="02020603050405020304" pitchFamily="18" charset="0"/>
                <a:cs typeface="Times New Roman" panose="02020603050405020304" pitchFamily="18" charset="0"/>
              </a:rPr>
              <a:t>Maintaining trust and meeting regulatory requirements is crucial to protect confidential information and systems against cyber-attacks. Apex Capital’s incident response plan aims to quickly and effectively contain cyber threats while ensuring normal business operations. This involves protecting privileged accounts and requires the collaboration of various departments. The plan will be updated regularly to reflect organizational changes, compliance culture and new technologies, and regular</a:t>
            </a:r>
            <a:r>
              <a:rPr lang="en-US" sz="3200" b="1" i="0" spc="-89" dirty="0">
                <a:solidFill>
                  <a:srgbClr val="000000"/>
                </a:solidFill>
                <a:effectLst/>
                <a:highlight>
                  <a:srgbClr val="FFFFFF"/>
                </a:highlight>
                <a:latin typeface="Times New Roman" panose="02020603050405020304" pitchFamily="18" charset="0"/>
                <a:cs typeface="Times New Roman" panose="02020603050405020304" pitchFamily="18" charset="0"/>
              </a:rPr>
              <a:t>.</a:t>
            </a:r>
            <a:endParaRPr lang="en-US" sz="3200"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b="1"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spc="-89" dirty="0">
              <a:solidFill>
                <a:srgbClr val="000000"/>
              </a:solidFill>
              <a:latin typeface="Times New Roman" panose="02020603050405020304" pitchFamily="18" charset="0"/>
              <a:cs typeface="Times New Roman" panose="02020603050405020304" pitchFamily="18" charset="0"/>
            </a:endParaRPr>
          </a:p>
        </p:txBody>
      </p:sp>
      <p:sp>
        <p:nvSpPr>
          <p:cNvPr id="6" name="TextBox 20"/>
          <p:cNvSpPr txBox="1"/>
          <p:nvPr/>
        </p:nvSpPr>
        <p:spPr>
          <a:xfrm>
            <a:off x="4038338" y="1095938"/>
            <a:ext cx="9411533" cy="660437"/>
          </a:xfrm>
          <a:prstGeom prst="rect">
            <a:avLst/>
          </a:prstGeom>
        </p:spPr>
        <p:txBody>
          <a:bodyPr lIns="0" tIns="0" rIns="0" bIns="0" rtlCol="0" anchor="t">
            <a:spAutoFit/>
          </a:bodyPr>
          <a:lstStyle/>
          <a:p>
            <a:pPr>
              <a:lnSpc>
                <a:spcPts val="5000"/>
              </a:lnSpc>
            </a:pPr>
            <a:r>
              <a:rPr lang="en-US" sz="5000" spc="-150" dirty="0">
                <a:solidFill>
                  <a:srgbClr val="FFFFFF"/>
                </a:solidFill>
                <a:latin typeface="Poppins Medium Bold" panose="00000700000000000000"/>
              </a:rPr>
              <a:t>Introduction</a:t>
            </a:r>
            <a:endParaRPr lang="en-US" sz="5000" spc="-150" dirty="0">
              <a:solidFill>
                <a:srgbClr val="FFFFFF"/>
              </a:solidFill>
              <a:latin typeface="Poppins Medium Bold" panose="000007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992" y="-188993"/>
            <a:ext cx="20647914" cy="10285714"/>
          </a:xfrm>
          <a:prstGeom prst="rect">
            <a:avLst/>
          </a:prstGeom>
        </p:spPr>
      </p:pic>
      <p:sp>
        <p:nvSpPr>
          <p:cNvPr id="4" name="TextBox 21"/>
          <p:cNvSpPr txBox="1"/>
          <p:nvPr/>
        </p:nvSpPr>
        <p:spPr>
          <a:xfrm>
            <a:off x="1676400" y="4381500"/>
            <a:ext cx="14683684" cy="834844"/>
          </a:xfrm>
          <a:prstGeom prst="rect">
            <a:avLst/>
          </a:prstGeom>
        </p:spPr>
        <p:txBody>
          <a:bodyPr wrap="square" lIns="0" tIns="0" rIns="0" bIns="0" rtlCol="0" anchor="t">
            <a:spAutoFit/>
          </a:bodyPr>
          <a:lstStyle/>
          <a:p>
            <a:pPr lvl="0" algn="just">
              <a:lnSpc>
                <a:spcPct val="200000"/>
              </a:lnSpc>
            </a:pP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22"/>
          <p:cNvSpPr txBox="1"/>
          <p:nvPr/>
        </p:nvSpPr>
        <p:spPr>
          <a:xfrm>
            <a:off x="838200" y="3238500"/>
            <a:ext cx="15773400" cy="769441"/>
          </a:xfrm>
          <a:prstGeom prst="rect">
            <a:avLst/>
          </a:prstGeom>
        </p:spPr>
        <p:txBody>
          <a:bodyPr wrap="square" lIns="0" tIns="0" rIns="0" bIns="0" rtlCol="0" anchor="t">
            <a:spAutoFit/>
          </a:bodyPr>
          <a:lstStyle/>
          <a:p>
            <a:pPr>
              <a:lnSpc>
                <a:spcPts val="3000"/>
              </a:lnSpc>
            </a:pPr>
            <a:endParaRPr lang="en-US" sz="3200" b="1"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spc="-89" dirty="0">
              <a:solidFill>
                <a:srgbClr val="000000"/>
              </a:solidFill>
              <a:latin typeface="Times New Roman" panose="02020603050405020304" pitchFamily="18" charset="0"/>
              <a:cs typeface="Times New Roman" panose="02020603050405020304" pitchFamily="18" charset="0"/>
            </a:endParaRPr>
          </a:p>
        </p:txBody>
      </p:sp>
      <p:sp>
        <p:nvSpPr>
          <p:cNvPr id="6" name="TextBox 20"/>
          <p:cNvSpPr txBox="1"/>
          <p:nvPr/>
        </p:nvSpPr>
        <p:spPr>
          <a:xfrm>
            <a:off x="3124200" y="876300"/>
            <a:ext cx="11277600" cy="660437"/>
          </a:xfrm>
          <a:prstGeom prst="rect">
            <a:avLst/>
          </a:prstGeom>
        </p:spPr>
        <p:txBody>
          <a:bodyPr wrap="square" lIns="0" tIns="0" rIns="0" bIns="0" rtlCol="0" anchor="t">
            <a:spAutoFit/>
          </a:bodyPr>
          <a:lstStyle/>
          <a:p>
            <a:pPr>
              <a:lnSpc>
                <a:spcPts val="5000"/>
              </a:lnSpc>
            </a:pPr>
            <a:r>
              <a:rPr lang="en-US" sz="5000" spc="-150" dirty="0">
                <a:solidFill>
                  <a:srgbClr val="FFFFFF"/>
                </a:solidFill>
                <a:latin typeface="Poppins Medium Bold" panose="00000700000000000000"/>
              </a:rPr>
              <a:t>                 Introduction</a:t>
            </a:r>
            <a:endParaRPr lang="en-US" sz="5000" spc="-150" dirty="0">
              <a:solidFill>
                <a:srgbClr val="FFFFFF"/>
              </a:solidFill>
              <a:latin typeface="Poppins Medium Bold" panose="00000700000000000000"/>
            </a:endParaRPr>
          </a:p>
        </p:txBody>
      </p:sp>
      <p:sp>
        <p:nvSpPr>
          <p:cNvPr id="7" name="TextBox 6"/>
          <p:cNvSpPr txBox="1"/>
          <p:nvPr/>
        </p:nvSpPr>
        <p:spPr>
          <a:xfrm>
            <a:off x="861116" y="3011024"/>
            <a:ext cx="14683684" cy="819712"/>
          </a:xfrm>
          <a:prstGeom prst="rect">
            <a:avLst/>
          </a:prstGeom>
          <a:noFill/>
        </p:spPr>
        <p:txBody>
          <a:bodyPr wrap="square">
            <a:spAutoFit/>
          </a:bodyPr>
          <a:lstStyle/>
          <a:p>
            <a:pPr>
              <a:lnSpc>
                <a:spcPts val="3000"/>
              </a:lnSpc>
            </a:pPr>
            <a:r>
              <a:rPr lang="en-US" sz="3200" b="1" spc="-89" dirty="0">
                <a:solidFill>
                  <a:srgbClr val="000000"/>
                </a:solidFill>
                <a:latin typeface="Times New Roman" panose="02020603050405020304" pitchFamily="18" charset="0"/>
                <a:cs typeface="Times New Roman" panose="02020603050405020304" pitchFamily="18" charset="0"/>
              </a:rPr>
              <a:t>Aim:  </a:t>
            </a:r>
            <a:r>
              <a:rPr lang="en-US" sz="3200" spc="-89" dirty="0">
                <a:solidFill>
                  <a:srgbClr val="000000"/>
                </a:solidFill>
                <a:latin typeface="Times New Roman" panose="02020603050405020304" pitchFamily="18" charset="0"/>
                <a:cs typeface="Times New Roman" panose="02020603050405020304" pitchFamily="18" charset="0"/>
              </a:rPr>
              <a:t>To develop an effective privilege account compromise plan</a:t>
            </a:r>
            <a:endParaRPr lang="en-US" sz="1800"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1800" b="1" spc="-89" dirty="0">
              <a:solidFill>
                <a:srgbClr val="00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861116" y="3814459"/>
            <a:ext cx="17398892" cy="2896947"/>
          </a:xfrm>
          <a:prstGeom prst="rect">
            <a:avLst/>
          </a:prstGeom>
          <a:noFill/>
        </p:spPr>
        <p:txBody>
          <a:bodyPr wrap="square">
            <a:spAutoFit/>
          </a:bodyPr>
          <a:lstStyle/>
          <a:p>
            <a:pPr lvl="0" algn="just">
              <a:lnSpc>
                <a:spcPct val="200000"/>
              </a:lnSpc>
            </a:pPr>
            <a:r>
              <a:rPr lang="en-US" sz="3200" b="1" dirty="0">
                <a:effectLst/>
                <a:latin typeface="Times New Roman" panose="02020603050405020304" pitchFamily="18" charset="0"/>
                <a:ea typeface="Times" panose="02020603050405020304" pitchFamily="18" charset="0"/>
                <a:cs typeface="Times New Roman" panose="02020603050405020304" pitchFamily="18" charset="0"/>
              </a:rPr>
              <a:t>Objective:</a:t>
            </a:r>
            <a:endParaRPr lang="en-US" sz="3200" b="1" dirty="0">
              <a:effectLst/>
              <a:latin typeface="Times New Roman" panose="02020603050405020304" pitchFamily="18" charset="0"/>
              <a:ea typeface="Times" panose="02020603050405020304" pitchFamily="18" charset="0"/>
              <a:cs typeface="Times New Roman" panose="02020603050405020304" pitchFamily="18" charset="0"/>
            </a:endParaRPr>
          </a:p>
          <a:p>
            <a:pPr marL="457200" lvl="0" indent="-457200" algn="just">
              <a:lnSpc>
                <a:spcPct val="200000"/>
              </a:lnSpc>
              <a:buFont typeface="Wingdings" panose="05000000000000000000" pitchFamily="2" charset="2"/>
              <a:buChar char="§"/>
            </a:pPr>
            <a:r>
              <a:rPr lang="en-US" sz="3200" b="0" i="0" dirty="0">
                <a:solidFill>
                  <a:srgbClr val="202124"/>
                </a:solidFill>
                <a:effectLst/>
                <a:highlight>
                  <a:srgbClr val="FFFFFF"/>
                </a:highlight>
                <a:latin typeface="Times New Roman" panose="02020603050405020304" pitchFamily="18" charset="0"/>
                <a:cs typeface="Times New Roman" panose="02020603050405020304" pitchFamily="18" charset="0"/>
              </a:rPr>
              <a:t>To establish a comprehensive response plan for privileged account compromise, focusing on detecting, containing, and remediating various attack methods to minimize security risks.</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01800" y="7070192"/>
            <a:ext cx="5648305" cy="25414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
        <p:nvSpPr>
          <p:cNvPr id="4" name="TextBox 21"/>
          <p:cNvSpPr txBox="1"/>
          <p:nvPr/>
        </p:nvSpPr>
        <p:spPr>
          <a:xfrm>
            <a:off x="1676400" y="4381500"/>
            <a:ext cx="14683684" cy="834844"/>
          </a:xfrm>
          <a:prstGeom prst="rect">
            <a:avLst/>
          </a:prstGeom>
        </p:spPr>
        <p:txBody>
          <a:bodyPr wrap="square" lIns="0" tIns="0" rIns="0" bIns="0" rtlCol="0" anchor="t">
            <a:spAutoFit/>
          </a:bodyPr>
          <a:lstStyle/>
          <a:p>
            <a:pPr lvl="0" algn="just">
              <a:lnSpc>
                <a:spcPct val="200000"/>
              </a:lnSpc>
            </a:pP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22"/>
          <p:cNvSpPr txBox="1"/>
          <p:nvPr/>
        </p:nvSpPr>
        <p:spPr>
          <a:xfrm>
            <a:off x="838200" y="3238500"/>
            <a:ext cx="15773400" cy="1154162"/>
          </a:xfrm>
          <a:prstGeom prst="rect">
            <a:avLst/>
          </a:prstGeom>
        </p:spPr>
        <p:txBody>
          <a:bodyPr wrap="square" lIns="0" tIns="0" rIns="0" bIns="0" rtlCol="0" anchor="t">
            <a:spAutoFit/>
          </a:bodyPr>
          <a:lstStyle/>
          <a:p>
            <a:pPr>
              <a:lnSpc>
                <a:spcPts val="3000"/>
              </a:lnSpc>
            </a:pPr>
            <a:endParaRPr lang="en-US" sz="3000" b="1"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b="1"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spc="-89" dirty="0">
              <a:solidFill>
                <a:srgbClr val="000000"/>
              </a:solidFill>
              <a:latin typeface="Times New Roman" panose="02020603050405020304" pitchFamily="18" charset="0"/>
              <a:cs typeface="Times New Roman" panose="02020603050405020304" pitchFamily="18" charset="0"/>
            </a:endParaRPr>
          </a:p>
        </p:txBody>
      </p:sp>
      <p:sp>
        <p:nvSpPr>
          <p:cNvPr id="6" name="TextBox 20"/>
          <p:cNvSpPr txBox="1"/>
          <p:nvPr/>
        </p:nvSpPr>
        <p:spPr>
          <a:xfrm>
            <a:off x="3124200" y="876300"/>
            <a:ext cx="11277600" cy="1942840"/>
          </a:xfrm>
          <a:prstGeom prst="rect">
            <a:avLst/>
          </a:prstGeom>
        </p:spPr>
        <p:txBody>
          <a:bodyPr wrap="square" lIns="0" tIns="0" rIns="0" bIns="0" rtlCol="0" anchor="t">
            <a:spAutoFit/>
          </a:bodyPr>
          <a:lstStyle/>
          <a:p>
            <a:pPr>
              <a:lnSpc>
                <a:spcPts val="5000"/>
              </a:lnSpc>
            </a:pPr>
            <a:r>
              <a:rPr lang="en-US" sz="5000" spc="-150" dirty="0">
                <a:solidFill>
                  <a:srgbClr val="FFFFFF"/>
                </a:solidFill>
                <a:latin typeface="Poppins Medium Bold" panose="00000700000000000000"/>
              </a:rPr>
              <a:t>Privilege account compromise plan        			and procedures</a:t>
            </a:r>
            <a:endParaRPr lang="en-US" sz="5400" dirty="0"/>
          </a:p>
          <a:p>
            <a:pPr>
              <a:lnSpc>
                <a:spcPts val="5000"/>
              </a:lnSpc>
            </a:pPr>
            <a:endParaRPr lang="en-US" sz="5000" spc="-150" dirty="0">
              <a:solidFill>
                <a:srgbClr val="FFFFFF"/>
              </a:solidFill>
              <a:latin typeface="Poppins Medium Bold" panose="0000070000000000000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3700462"/>
            <a:ext cx="11811000" cy="57102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715" y="73487"/>
            <a:ext cx="18285714" cy="10285714"/>
          </a:xfrm>
          <a:prstGeom prst="rect">
            <a:avLst/>
          </a:prstGeom>
        </p:spPr>
      </p:pic>
      <p:sp>
        <p:nvSpPr>
          <p:cNvPr id="4" name="TextBox 21"/>
          <p:cNvSpPr txBox="1"/>
          <p:nvPr/>
        </p:nvSpPr>
        <p:spPr>
          <a:xfrm>
            <a:off x="1676400" y="4381500"/>
            <a:ext cx="14683684" cy="834844"/>
          </a:xfrm>
          <a:prstGeom prst="rect">
            <a:avLst/>
          </a:prstGeom>
        </p:spPr>
        <p:txBody>
          <a:bodyPr wrap="square" lIns="0" tIns="0" rIns="0" bIns="0" rtlCol="0" anchor="t">
            <a:spAutoFit/>
          </a:bodyPr>
          <a:lstStyle/>
          <a:p>
            <a:pPr lvl="0" algn="just">
              <a:lnSpc>
                <a:spcPct val="200000"/>
              </a:lnSpc>
            </a:pP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22"/>
          <p:cNvSpPr txBox="1"/>
          <p:nvPr/>
        </p:nvSpPr>
        <p:spPr>
          <a:xfrm>
            <a:off x="838200" y="3238500"/>
            <a:ext cx="15773400" cy="1154162"/>
          </a:xfrm>
          <a:prstGeom prst="rect">
            <a:avLst/>
          </a:prstGeom>
        </p:spPr>
        <p:txBody>
          <a:bodyPr wrap="square" lIns="0" tIns="0" rIns="0" bIns="0" rtlCol="0" anchor="t">
            <a:spAutoFit/>
          </a:bodyPr>
          <a:lstStyle/>
          <a:p>
            <a:pPr>
              <a:lnSpc>
                <a:spcPts val="3000"/>
              </a:lnSpc>
            </a:pPr>
            <a:endParaRPr lang="en-US" sz="3000" b="1"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b="1"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spc="-89" dirty="0">
              <a:solidFill>
                <a:srgbClr val="000000"/>
              </a:solidFill>
              <a:latin typeface="Times New Roman" panose="02020603050405020304" pitchFamily="18" charset="0"/>
              <a:cs typeface="Times New Roman" panose="02020603050405020304" pitchFamily="18" charset="0"/>
            </a:endParaRPr>
          </a:p>
        </p:txBody>
      </p:sp>
      <p:sp>
        <p:nvSpPr>
          <p:cNvPr id="6" name="TextBox 20"/>
          <p:cNvSpPr txBox="1"/>
          <p:nvPr/>
        </p:nvSpPr>
        <p:spPr>
          <a:xfrm>
            <a:off x="3124200" y="876300"/>
            <a:ext cx="11277600" cy="1942840"/>
          </a:xfrm>
          <a:prstGeom prst="rect">
            <a:avLst/>
          </a:prstGeom>
        </p:spPr>
        <p:txBody>
          <a:bodyPr wrap="square" lIns="0" tIns="0" rIns="0" bIns="0" rtlCol="0" anchor="t">
            <a:spAutoFit/>
          </a:bodyPr>
          <a:lstStyle/>
          <a:p>
            <a:pPr>
              <a:lnSpc>
                <a:spcPts val="5000"/>
              </a:lnSpc>
            </a:pPr>
            <a:r>
              <a:rPr lang="en-US" sz="5000" spc="-150" dirty="0">
                <a:solidFill>
                  <a:srgbClr val="FFFFFF"/>
                </a:solidFill>
                <a:latin typeface="Poppins Medium Bold" panose="00000700000000000000"/>
              </a:rPr>
              <a:t>Privilege account compromise plan        			and procedures</a:t>
            </a:r>
            <a:endParaRPr lang="en-US" sz="5400" dirty="0"/>
          </a:p>
          <a:p>
            <a:pPr>
              <a:lnSpc>
                <a:spcPts val="5000"/>
              </a:lnSpc>
            </a:pPr>
            <a:endParaRPr lang="en-US" sz="5000" spc="-150" dirty="0">
              <a:solidFill>
                <a:srgbClr val="FFFFFF"/>
              </a:solidFill>
              <a:latin typeface="Poppins Medium Bold" panose="00000700000000000000"/>
            </a:endParaRPr>
          </a:p>
        </p:txBody>
      </p:sp>
      <p:sp>
        <p:nvSpPr>
          <p:cNvPr id="8" name="TextBox 7"/>
          <p:cNvSpPr txBox="1"/>
          <p:nvPr/>
        </p:nvSpPr>
        <p:spPr>
          <a:xfrm>
            <a:off x="304800" y="3467100"/>
            <a:ext cx="17526000" cy="4585871"/>
          </a:xfrm>
          <a:prstGeom prst="rect">
            <a:avLst/>
          </a:prstGeom>
          <a:noFill/>
        </p:spPr>
        <p:txBody>
          <a:bodyPr wrap="square" rtlCol="0">
            <a:spAutoFit/>
          </a:bodyPr>
          <a:lstStyle/>
          <a:p>
            <a:pPr>
              <a:lnSpc>
                <a:spcPct val="200000"/>
              </a:lnSpc>
            </a:pPr>
            <a:r>
              <a:rPr lang="en-US" sz="3200" b="1" dirty="0">
                <a:latin typeface="Times New Roman" panose="02020603050405020304" pitchFamily="18" charset="0"/>
                <a:cs typeface="Times New Roman" panose="02020603050405020304" pitchFamily="18" charset="0"/>
              </a:rPr>
              <a:t>PREPARATION: </a:t>
            </a: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nSpc>
                <a:spcPct val="200000"/>
              </a:lnSpc>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Determine the Members of the Cybersecurity Incident Response Team (CSIRT)</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Define Escalation Paths</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Ensure Appropriate Logging Levels</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b="1" dirty="0"/>
              <a:t> </a:t>
            </a:r>
            <a:endParaRPr lang="en-US" b="1"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63600" y="5748318"/>
            <a:ext cx="4182556" cy="4555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715" y="73487"/>
            <a:ext cx="18285714" cy="10285714"/>
          </a:xfrm>
          <a:prstGeom prst="rect">
            <a:avLst/>
          </a:prstGeom>
        </p:spPr>
      </p:pic>
      <p:sp>
        <p:nvSpPr>
          <p:cNvPr id="4" name="TextBox 21"/>
          <p:cNvSpPr txBox="1"/>
          <p:nvPr/>
        </p:nvSpPr>
        <p:spPr>
          <a:xfrm>
            <a:off x="1676400" y="4381500"/>
            <a:ext cx="14683684" cy="834844"/>
          </a:xfrm>
          <a:prstGeom prst="rect">
            <a:avLst/>
          </a:prstGeom>
        </p:spPr>
        <p:txBody>
          <a:bodyPr wrap="square" lIns="0" tIns="0" rIns="0" bIns="0" rtlCol="0" anchor="t">
            <a:spAutoFit/>
          </a:bodyPr>
          <a:lstStyle/>
          <a:p>
            <a:pPr lvl="0" algn="just">
              <a:lnSpc>
                <a:spcPct val="200000"/>
              </a:lnSpc>
            </a:pP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22"/>
          <p:cNvSpPr txBox="1"/>
          <p:nvPr/>
        </p:nvSpPr>
        <p:spPr>
          <a:xfrm>
            <a:off x="838200" y="3238500"/>
            <a:ext cx="15773400" cy="1154162"/>
          </a:xfrm>
          <a:prstGeom prst="rect">
            <a:avLst/>
          </a:prstGeom>
        </p:spPr>
        <p:txBody>
          <a:bodyPr wrap="square" lIns="0" tIns="0" rIns="0" bIns="0" rtlCol="0" anchor="t">
            <a:spAutoFit/>
          </a:bodyPr>
          <a:lstStyle/>
          <a:p>
            <a:pPr>
              <a:lnSpc>
                <a:spcPts val="3000"/>
              </a:lnSpc>
            </a:pPr>
            <a:endParaRPr lang="en-US" sz="3000" b="1"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b="1" spc="-89" dirty="0">
              <a:solidFill>
                <a:srgbClr val="000000"/>
              </a:solidFill>
              <a:latin typeface="Times New Roman" panose="02020603050405020304" pitchFamily="18" charset="0"/>
              <a:cs typeface="Times New Roman" panose="02020603050405020304" pitchFamily="18" charset="0"/>
            </a:endParaRPr>
          </a:p>
          <a:p>
            <a:pPr>
              <a:lnSpc>
                <a:spcPts val="3000"/>
              </a:lnSpc>
            </a:pPr>
            <a:endParaRPr lang="en-US" sz="3200" spc="-89" dirty="0">
              <a:solidFill>
                <a:srgbClr val="000000"/>
              </a:solidFill>
              <a:latin typeface="Times New Roman" panose="02020603050405020304" pitchFamily="18" charset="0"/>
              <a:cs typeface="Times New Roman" panose="02020603050405020304" pitchFamily="18" charset="0"/>
            </a:endParaRPr>
          </a:p>
        </p:txBody>
      </p:sp>
      <p:sp>
        <p:nvSpPr>
          <p:cNvPr id="6" name="TextBox 20"/>
          <p:cNvSpPr txBox="1"/>
          <p:nvPr/>
        </p:nvSpPr>
        <p:spPr>
          <a:xfrm>
            <a:off x="3124200" y="876300"/>
            <a:ext cx="11277600" cy="1942840"/>
          </a:xfrm>
          <a:prstGeom prst="rect">
            <a:avLst/>
          </a:prstGeom>
        </p:spPr>
        <p:txBody>
          <a:bodyPr wrap="square" lIns="0" tIns="0" rIns="0" bIns="0" rtlCol="0" anchor="t">
            <a:spAutoFit/>
          </a:bodyPr>
          <a:lstStyle/>
          <a:p>
            <a:pPr>
              <a:lnSpc>
                <a:spcPts val="5000"/>
              </a:lnSpc>
            </a:pPr>
            <a:r>
              <a:rPr lang="en-US" sz="5000" spc="-150" dirty="0">
                <a:solidFill>
                  <a:srgbClr val="FFFFFF"/>
                </a:solidFill>
                <a:latin typeface="Poppins Medium Bold" panose="00000700000000000000"/>
              </a:rPr>
              <a:t>Privilege account compromise plan        			and procedures</a:t>
            </a:r>
            <a:endParaRPr lang="en-US" sz="5400" dirty="0"/>
          </a:p>
          <a:p>
            <a:pPr>
              <a:lnSpc>
                <a:spcPts val="5000"/>
              </a:lnSpc>
            </a:pPr>
            <a:endParaRPr lang="en-US" sz="5000" spc="-150" dirty="0">
              <a:solidFill>
                <a:srgbClr val="FFFFFF"/>
              </a:solidFill>
              <a:latin typeface="Poppins Medium Bold" panose="00000700000000000000"/>
            </a:endParaRPr>
          </a:p>
        </p:txBody>
      </p:sp>
      <p:sp>
        <p:nvSpPr>
          <p:cNvPr id="8" name="TextBox 7"/>
          <p:cNvSpPr txBox="1"/>
          <p:nvPr/>
        </p:nvSpPr>
        <p:spPr>
          <a:xfrm>
            <a:off x="56715" y="2705100"/>
            <a:ext cx="18231285" cy="9848850"/>
          </a:xfrm>
          <a:prstGeom prst="rect">
            <a:avLst/>
          </a:prstGeom>
          <a:noFill/>
        </p:spPr>
        <p:txBody>
          <a:bodyPr wrap="square" rtlCol="0">
            <a:spAutoFit/>
          </a:bodyPr>
          <a:lstStyle/>
          <a:p>
            <a:pPr>
              <a:lnSpc>
                <a:spcPct val="200000"/>
              </a:lnSpc>
            </a:pPr>
            <a:r>
              <a:rPr lang="en-US" sz="3200" b="1" dirty="0">
                <a:latin typeface="Times New Roman" panose="02020603050405020304" pitchFamily="18" charset="0"/>
                <a:cs typeface="Times New Roman" panose="02020603050405020304" pitchFamily="18" charset="0"/>
              </a:rPr>
              <a:t>DETECTION AND ANALYSIS:</a:t>
            </a:r>
            <a:endParaRPr lang="en-US" sz="32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Outline how the team initially discovered the attack.</a:t>
            </a:r>
            <a:endParaRPr lang="en-US"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Identify the access point and the source of the attack.</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Apply the information from the method of compromise to identify the sensitive data that the attacker could have accessed.</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Evaluate Apex Capital's information assets list to identify any potentially compromised assets, and make note of their integrity and any gathered evidence.</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Apply various tools and methods to monitor the network and system activity, such as intrusion detection systems (IDS), log analysis, firewall rules, and alerts.</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Query Apex Capital’s email system, consider inputting details such as the email subject name, document name, document hash, URL from the email.</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
            </a:pP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b="1" dirty="0"/>
              <a:t> </a:t>
            </a:r>
            <a:endParaRPr lang="en-US" b="1" dirty="0"/>
          </a:p>
        </p:txBody>
      </p:sp>
      <p:pic>
        <p:nvPicPr>
          <p:cNvPr id="2" name="Picture 1"/>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62418" y1="45425" x2="62418" y2="45425"/>
                        <a14:foregroundMark x1="62418" y1="45425" x2="62418" y2="45425"/>
                        <a14:foregroundMark x1="62418" y1="45425" x2="19444" y2="36275"/>
                        <a14:foregroundMark x1="19771" y1="37745" x2="33007" y2="56536"/>
                        <a14:foregroundMark x1="40523" y1="58987" x2="40523" y2="58987"/>
                        <a14:foregroundMark x1="33333" y1="57026" x2="52941" y2="31209"/>
                        <a14:foregroundMark x1="52941" y1="31209" x2="23203" y2="29248"/>
                        <a14:foregroundMark x1="45588" y1="43791" x2="62745" y2="49837"/>
                        <a14:foregroundMark x1="62745" y1="49837" x2="33660" y2="54248"/>
                        <a14:foregroundMark x1="27288" y1="47059" x2="46242" y2="50490"/>
                        <a14:foregroundMark x1="32026" y1="54902" x2="47222" y2="59314"/>
                        <a14:foregroundMark x1="36765" y1="45425" x2="28922" y2="40033"/>
                        <a14:foregroundMark x1="59804" y1="64379" x2="59804" y2="64379"/>
                        <a14:foregroundMark x1="58333" y1="58333" x2="58333" y2="58333"/>
                        <a14:foregroundMark x1="58333" y1="58333" x2="58333" y2="58333"/>
                        <a14:foregroundMark x1="61765" y1="59967" x2="61765" y2="59967"/>
                      </a14:backgroundRemoval>
                    </a14:imgEffect>
                  </a14:imgLayer>
                </a14:imgProps>
              </a:ext>
              <a:ext uri="{28A0092B-C50C-407E-A947-70E740481C1C}">
                <a14:useLocalDpi xmlns:a14="http://schemas.microsoft.com/office/drawing/2010/main" val="0"/>
              </a:ext>
            </a:extLst>
          </a:blip>
          <a:stretch>
            <a:fillRect/>
          </a:stretch>
        </p:blipFill>
        <p:spPr>
          <a:xfrm>
            <a:off x="13707556" y="2247900"/>
            <a:ext cx="5486400" cy="457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98612"/>
            <a:ext cx="18285714" cy="10385611"/>
          </a:xfrm>
          <a:prstGeom prst="rect">
            <a:avLst/>
          </a:prstGeom>
        </p:spPr>
      </p:pic>
      <p:sp>
        <p:nvSpPr>
          <p:cNvPr id="2" name="TextBox 1"/>
          <p:cNvSpPr txBox="1"/>
          <p:nvPr/>
        </p:nvSpPr>
        <p:spPr>
          <a:xfrm>
            <a:off x="1143000" y="4663306"/>
            <a:ext cx="426720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sz="5000" spc="-150" dirty="0">
                <a:solidFill>
                  <a:srgbClr val="FFFFFF"/>
                </a:solidFill>
                <a:latin typeface="Poppins Medium Bold" panose="00000700000000000000"/>
              </a:rPr>
              <a:t>Incident Sample</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98612"/>
            <a:ext cx="12113514" cy="101951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98612"/>
            <a:ext cx="18285714" cy="10385611"/>
          </a:xfrm>
          <a:prstGeom prst="rect">
            <a:avLst/>
          </a:prstGeom>
        </p:spPr>
      </p:pic>
      <p:sp>
        <p:nvSpPr>
          <p:cNvPr id="2" name="TextBox 1"/>
          <p:cNvSpPr txBox="1"/>
          <p:nvPr/>
        </p:nvSpPr>
        <p:spPr>
          <a:xfrm>
            <a:off x="1143000" y="4663306"/>
            <a:ext cx="426720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sz="5000" spc="-150" dirty="0">
                <a:solidFill>
                  <a:srgbClr val="FFFFFF"/>
                </a:solidFill>
                <a:latin typeface="Poppins Medium Bold" panose="00000700000000000000"/>
              </a:rPr>
              <a:t>Incident Sample</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0"/>
            <a:ext cx="12113514" cy="9944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
        <p:nvSpPr>
          <p:cNvPr id="2" name="TextBox 1"/>
          <p:cNvSpPr txBox="1"/>
          <p:nvPr/>
        </p:nvSpPr>
        <p:spPr>
          <a:xfrm>
            <a:off x="3733800" y="1181100"/>
            <a:ext cx="11277600" cy="2383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5000" spc="-150" dirty="0">
                <a:solidFill>
                  <a:srgbClr val="FFFFFF"/>
                </a:solidFill>
                <a:latin typeface="Poppins Medium Bold" panose="00000700000000000000"/>
              </a:rPr>
              <a:t>Privilege account compromise plan        			and procedures</a:t>
            </a:r>
            <a:endParaRPr lang="en-US" sz="5400" dirty="0"/>
          </a:p>
          <a:p>
            <a:pPr algn="l"/>
            <a:endParaRPr lang="en-US" sz="5000" dirty="0">
              <a:solidFill>
                <a:srgbClr val="FFFFFF"/>
              </a:solidFill>
              <a:ea typeface="Calibri" panose="020F0502020204030204"/>
              <a:cs typeface="Calibri" panose="020F0502020204030204"/>
            </a:endParaRPr>
          </a:p>
        </p:txBody>
      </p:sp>
      <p:sp>
        <p:nvSpPr>
          <p:cNvPr id="4" name="TextBox 3"/>
          <p:cNvSpPr txBox="1"/>
          <p:nvPr/>
        </p:nvSpPr>
        <p:spPr>
          <a:xfrm>
            <a:off x="153544" y="3005010"/>
            <a:ext cx="18134456" cy="8126327"/>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CONTAINMENT, ERADICATION AND RECOVERY:</a:t>
            </a:r>
            <a:endParaRPr lang="en-US" sz="36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Block any identified phishing URLs, IP addresses, or domains.</a:t>
            </a:r>
            <a:r>
              <a:rPr lang="en-US" sz="3200" dirty="0">
                <a:effectLst/>
                <a:latin typeface="Times New Roman" panose="02020603050405020304" pitchFamily="18" charset="0"/>
                <a:cs typeface="Times New Roman" panose="02020603050405020304" pitchFamily="18" charset="0"/>
              </a:rPr>
              <a:t> </a:t>
            </a:r>
            <a:endParaRPr lang="en-US" sz="3200" dirty="0">
              <a:effectLst/>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Lock out the compromised account in all systems and applications.</a:t>
            </a:r>
            <a:endParaRPr lang="en-US" sz="3200" dirty="0">
              <a:effectLst/>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Monitor systems continually to collect data and use artificial intelligence to detect the compromised account's activities accurately.</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50000"/>
              </a:lnSpc>
              <a:spcBef>
                <a:spcPts val="0"/>
              </a:spcBef>
              <a:spcAft>
                <a:spcPts val="0"/>
              </a:spcAft>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If malware is discovered:</a:t>
            </a:r>
            <a:r>
              <a:rPr lang="en-US" sz="32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Save a sample, Analyze using available tools,  Get the file hash,  Submit the hash to </a:t>
            </a:r>
            <a:r>
              <a:rPr lang="en-US" sz="3200" kern="100" dirty="0" err="1">
                <a:effectLst/>
                <a:latin typeface="Times New Roman" panose="02020603050405020304" pitchFamily="18" charset="0"/>
                <a:ea typeface="Calibri" panose="020F0502020204030204" pitchFamily="34" charset="0"/>
                <a:cs typeface="Times New Roman" panose="02020603050405020304" pitchFamily="18" charset="0"/>
              </a:rPr>
              <a:t>VirusTotal</a:t>
            </a: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  Hybrid-Analysis, and Note malware characteristics.</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nSpc>
                <a:spcPct val="150000"/>
              </a:lnSpc>
              <a:spcBef>
                <a:spcPts val="0"/>
              </a:spcBef>
              <a:spcAft>
                <a:spcPts val="0"/>
              </a:spcAft>
              <a:buFont typeface="Wingdings" panose="05000000000000000000" pitchFamily="2" charset="2"/>
              <a:buChar char="§"/>
            </a:pPr>
            <a:r>
              <a:rPr lang="en-US" sz="3200" b="0" i="0" dirty="0">
                <a:solidFill>
                  <a:srgbClr val="202124"/>
                </a:solidFill>
                <a:effectLst/>
                <a:highlight>
                  <a:srgbClr val="FFFFFF"/>
                </a:highlight>
                <a:latin typeface="Times New Roman" panose="02020603050405020304" pitchFamily="18" charset="0"/>
                <a:cs typeface="Times New Roman" panose="02020603050405020304" pitchFamily="18" charset="0"/>
              </a:rPr>
              <a:t>Reset passwords for compromised accounts and enforce multi-factor authentication (MFA).</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nSpc>
                <a:spcPct val="150000"/>
              </a:lnSpc>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Close firewall ports and network connections that were used during the attack.</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3600" kern="100" dirty="0">
                <a:latin typeface="Times New Roman" panose="02020603050405020304" pitchFamily="18" charset="0"/>
                <a:ea typeface="Calibri" panose="020F0502020204030204" pitchFamily="34" charset="0"/>
                <a:cs typeface="Times New Roman" panose="02020603050405020304" pitchFamily="18" charset="0"/>
              </a:rPr>
              <a:t> </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800"/>
              </a:spcAft>
              <a:buFont typeface="Symbol" panose="05050102010706020507" pitchFamily="18" charset="2"/>
              <a:buChar char=""/>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15000"/>
              </a:lnSpc>
              <a:spcBef>
                <a:spcPts val="0"/>
              </a:spcBef>
              <a:spcAft>
                <a:spcPts val="0"/>
              </a:spcAft>
              <a:buFont typeface="Wingdings" panose="05000000000000000000" pitchFamily="2" charset="2"/>
              <a:buChar char="§"/>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
        <p:nvSpPr>
          <p:cNvPr id="2" name="TextBox 1"/>
          <p:cNvSpPr txBox="1"/>
          <p:nvPr/>
        </p:nvSpPr>
        <p:spPr>
          <a:xfrm>
            <a:off x="3733800" y="1181100"/>
            <a:ext cx="11277600" cy="2383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5000" spc="-150" dirty="0">
                <a:solidFill>
                  <a:srgbClr val="FFFFFF"/>
                </a:solidFill>
                <a:latin typeface="Poppins Medium Bold" panose="00000700000000000000"/>
              </a:rPr>
              <a:t>Privilege account compromise plan        			and procedures</a:t>
            </a:r>
            <a:endParaRPr lang="en-US" sz="5400" dirty="0"/>
          </a:p>
          <a:p>
            <a:pPr algn="l"/>
            <a:endParaRPr lang="en-US" sz="5000" dirty="0">
              <a:solidFill>
                <a:srgbClr val="FFFFFF"/>
              </a:solidFill>
              <a:ea typeface="Calibri" panose="020F0502020204030204"/>
              <a:cs typeface="Calibri" panose="020F0502020204030204"/>
            </a:endParaRPr>
          </a:p>
        </p:txBody>
      </p:sp>
      <p:sp>
        <p:nvSpPr>
          <p:cNvPr id="4" name="TextBox 3"/>
          <p:cNvSpPr txBox="1"/>
          <p:nvPr/>
        </p:nvSpPr>
        <p:spPr>
          <a:xfrm>
            <a:off x="153544" y="3005010"/>
            <a:ext cx="18134456" cy="8424870"/>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CONTAINMENT, ERADICATION AND RECOVERY:</a:t>
            </a:r>
            <a:endParaRPr lang="en-US" sz="36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sz="3600" kern="100" dirty="0">
                <a:latin typeface="Times New Roman" panose="02020603050405020304" pitchFamily="18" charset="0"/>
                <a:ea typeface="Calibri" panose="020F0502020204030204" pitchFamily="34" charset="0"/>
                <a:cs typeface="Times New Roman" panose="02020603050405020304" pitchFamily="18" charset="0"/>
              </a:rPr>
              <a:t>Disable or delete compromised accounts</a:t>
            </a:r>
            <a:r>
              <a:rPr lang="en-US" sz="3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nSpc>
                <a:spcPct val="150000"/>
              </a:lnSpc>
              <a:spcBef>
                <a:spcPts val="0"/>
              </a:spcBef>
              <a:spcAft>
                <a:spcPts val="0"/>
              </a:spcAft>
              <a:buFont typeface="Wingdings" panose="05000000000000000000" pitchFamily="2" charset="2"/>
              <a:buChar char="§"/>
            </a:pPr>
            <a:r>
              <a:rPr lang="en-US" sz="3600" kern="100" dirty="0">
                <a:effectLst/>
                <a:latin typeface="Times New Roman" panose="02020603050405020304" pitchFamily="18" charset="0"/>
                <a:ea typeface="Calibri" panose="020F0502020204030204" pitchFamily="34" charset="0"/>
                <a:cs typeface="Times New Roman" panose="02020603050405020304" pitchFamily="18" charset="0"/>
              </a:rPr>
              <a:t>Remove the malicious files and processes identified on the infected systems. </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nSpc>
                <a:spcPct val="150000"/>
              </a:lnSpc>
              <a:spcBef>
                <a:spcPts val="0"/>
              </a:spcBef>
              <a:spcAft>
                <a:spcPts val="0"/>
              </a:spcAft>
              <a:buFont typeface="Wingdings" panose="05000000000000000000" pitchFamily="2" charset="2"/>
              <a:buChar char="§"/>
            </a:pPr>
            <a:r>
              <a:rPr lang="en-US" sz="3600" kern="100" dirty="0">
                <a:effectLst/>
                <a:latin typeface="Times New Roman" panose="02020603050405020304" pitchFamily="18" charset="0"/>
                <a:ea typeface="Calibri" panose="020F0502020204030204" pitchFamily="34" charset="0"/>
                <a:cs typeface="Times New Roman" panose="02020603050405020304" pitchFamily="18" charset="0"/>
              </a:rPr>
              <a:t>Use antivirus and anti-malware tools to scan and clean the affected endpoints.  </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nSpc>
                <a:spcPct val="150000"/>
              </a:lnSpc>
              <a:spcBef>
                <a:spcPts val="0"/>
              </a:spcBef>
              <a:spcAft>
                <a:spcPts val="800"/>
              </a:spcAft>
              <a:buFont typeface="Wingdings" panose="05000000000000000000" pitchFamily="2" charset="2"/>
              <a:buChar char="§"/>
            </a:pPr>
            <a:r>
              <a:rPr lang="en-US" sz="3600" kern="100" dirty="0">
                <a:effectLst/>
                <a:latin typeface="Times New Roman" panose="02020603050405020304" pitchFamily="18" charset="0"/>
                <a:ea typeface="Calibri" panose="020F0502020204030204" pitchFamily="34" charset="0"/>
                <a:cs typeface="Times New Roman" panose="02020603050405020304" pitchFamily="18" charset="0"/>
              </a:rPr>
              <a:t>Update all software and apply necessary patches to address vulnerabilities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the attackers exploit.</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nSpc>
                <a:spcPct val="150000"/>
              </a:lnSpc>
              <a:spcAft>
                <a:spcPts val="800"/>
              </a:spcAft>
              <a:buFont typeface="Wingdings" panose="05000000000000000000" pitchFamily="2" charset="2"/>
              <a:buChar char="§"/>
            </a:pPr>
            <a:r>
              <a:rPr lang="en-US" sz="3600" kern="100" dirty="0">
                <a:effectLst/>
                <a:latin typeface="Times New Roman" panose="02020603050405020304" pitchFamily="18" charset="0"/>
                <a:ea typeface="Calibri" panose="020F0502020204030204" pitchFamily="34" charset="0"/>
                <a:cs typeface="Times New Roman" panose="02020603050405020304" pitchFamily="18" charset="0"/>
              </a:rPr>
              <a:t> Conduct a vulnerability analysis to ensure that all identified issues have been resolved.</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nSpc>
                <a:spcPct val="150000"/>
              </a:lnSpc>
              <a:spcAft>
                <a:spcPts val="800"/>
              </a:spcAft>
              <a:buFont typeface="Wingdings" panose="05000000000000000000" pitchFamily="2" charset="2"/>
              <a:buChar char="§"/>
            </a:pPr>
            <a:r>
              <a:rPr lang="en-US" sz="3600" kern="100" dirty="0">
                <a:latin typeface="Times New Roman" panose="02020603050405020304" pitchFamily="18" charset="0"/>
                <a:ea typeface="Calibri" panose="020F0502020204030204" pitchFamily="34" charset="0"/>
                <a:cs typeface="Times New Roman" panose="02020603050405020304" pitchFamily="18" charset="0"/>
              </a:rPr>
              <a:t>Share the recovery information process with employees and externally through appropriate channels. </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nSpc>
                <a:spcPct val="115000"/>
              </a:lnSpc>
              <a:spcBef>
                <a:spcPts val="0"/>
              </a:spcBef>
              <a:spcAft>
                <a:spcPts val="800"/>
              </a:spcAft>
            </a:pP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15000"/>
              </a:lnSpc>
              <a:spcBef>
                <a:spcPts val="0"/>
              </a:spcBef>
              <a:spcAft>
                <a:spcPts val="0"/>
              </a:spcAft>
              <a:buFont typeface="Wingdings" panose="05000000000000000000" pitchFamily="2" charset="2"/>
              <a:buChar char="§"/>
            </a:pPr>
            <a:endParaRPr lang="en-US"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
        <p:nvSpPr>
          <p:cNvPr id="2" name="TextBox 1"/>
          <p:cNvSpPr txBox="1"/>
          <p:nvPr/>
        </p:nvSpPr>
        <p:spPr>
          <a:xfrm>
            <a:off x="3733800" y="1181100"/>
            <a:ext cx="11277600" cy="2383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5000" spc="-150" dirty="0">
                <a:solidFill>
                  <a:srgbClr val="FFFFFF"/>
                </a:solidFill>
                <a:latin typeface="Poppins Medium Bold" panose="00000700000000000000"/>
              </a:rPr>
              <a:t>Privilege account compromise plan        			and procedures</a:t>
            </a:r>
            <a:endParaRPr lang="en-US" sz="5400" dirty="0"/>
          </a:p>
          <a:p>
            <a:pPr algn="l"/>
            <a:endParaRPr lang="en-US" sz="5000" dirty="0">
              <a:solidFill>
                <a:srgbClr val="FFFFFF"/>
              </a:solidFill>
              <a:ea typeface="Calibri" panose="020F0502020204030204"/>
              <a:cs typeface="Calibri" panose="020F0502020204030204"/>
            </a:endParaRPr>
          </a:p>
        </p:txBody>
      </p:sp>
      <p:sp>
        <p:nvSpPr>
          <p:cNvPr id="4" name="TextBox 3"/>
          <p:cNvSpPr txBox="1"/>
          <p:nvPr/>
        </p:nvSpPr>
        <p:spPr>
          <a:xfrm>
            <a:off x="0" y="2628900"/>
            <a:ext cx="18288000" cy="9153788"/>
          </a:xfrm>
          <a:prstGeom prst="rect">
            <a:avLst/>
          </a:prstGeom>
          <a:noFill/>
        </p:spPr>
        <p:txBody>
          <a:bodyPr wrap="square" rtlCol="0">
            <a:spAutoFit/>
          </a:bodyPr>
          <a:lstStyle/>
          <a:p>
            <a:pPr marR="0" lvl="0">
              <a:lnSpc>
                <a:spcPct val="115000"/>
              </a:lnSpc>
              <a:spcBef>
                <a:spcPts val="0"/>
              </a:spcBef>
              <a:spcAft>
                <a:spcPts val="800"/>
              </a:spcAft>
            </a:pPr>
            <a:r>
              <a:rPr lang="en-US" sz="3200" b="1" kern="100" dirty="0">
                <a:effectLst/>
                <a:latin typeface="Times New Roman" panose="02020603050405020304" pitchFamily="18" charset="0"/>
                <a:ea typeface="Calibri" panose="020F0502020204030204" pitchFamily="34" charset="0"/>
                <a:cs typeface="Times New Roman" panose="02020603050405020304" pitchFamily="18" charset="0"/>
              </a:rPr>
              <a:t>POST-INCIDENT: </a:t>
            </a:r>
            <a:endParaRPr lang="en-US" sz="32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nSpc>
                <a:spcPct val="150000"/>
              </a:lnSpc>
              <a:spcBef>
                <a:spcPts val="0"/>
              </a:spcBef>
              <a:spcAft>
                <a:spcPts val="800"/>
              </a:spcAft>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Evaluate the cost of the incident</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50000"/>
              </a:lnSpc>
              <a:spcAft>
                <a:spcPts val="800"/>
              </a:spcAft>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Determine any vulnerabilities or gaps in the organization’s security and how to address them.</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50000"/>
              </a:lnSpc>
              <a:spcBef>
                <a:spcPts val="0"/>
              </a:spcBef>
              <a:spcAft>
                <a:spcPts val="0"/>
              </a:spcAft>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Update the incident response plan.</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50000"/>
              </a:lnSpc>
              <a:spcBef>
                <a:spcPts val="0"/>
              </a:spcBef>
              <a:spcAft>
                <a:spcPts val="0"/>
              </a:spcAft>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Maintain robust application security Operating System and Application patching procedures</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50000"/>
              </a:lnSpc>
              <a:spcBef>
                <a:spcPts val="0"/>
              </a:spcBef>
              <a:spcAft>
                <a:spcPts val="0"/>
              </a:spcAf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General cybersecurity training for employees and specialized training for Cybersecurity Incidence Response Team</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50000"/>
              </a:lnSpc>
              <a:spcBef>
                <a:spcPts val="0"/>
              </a:spcBef>
              <a:spcAft>
                <a:spcPts val="0"/>
              </a:spcAft>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 Create and distribute an incident report to relevant parties</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50000"/>
              </a:lnSpc>
              <a:spcBef>
                <a:spcPts val="0"/>
              </a:spcBef>
              <a:spcAft>
                <a:spcPts val="800"/>
              </a:spcAft>
              <a:buFont typeface="Wingdings" panose="05000000000000000000" pitchFamily="2" charset="2"/>
              <a:buChar char="§"/>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Document all information and more technical reports for the CSIRT.</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50000"/>
              </a:lnSpc>
              <a:buFont typeface="Wingdings" panose="05000000000000000000" pitchFamily="2"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Document and present an executive summary of the incident to the management team.</a:t>
            </a: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50000"/>
              </a:lnSpc>
              <a:spcBef>
                <a:spcPts val="0"/>
              </a:spcBef>
              <a:spcAft>
                <a:spcPts val="800"/>
              </a:spcAft>
              <a:buFont typeface="Wingdings" panose="05000000000000000000" pitchFamily="2" charset="2"/>
              <a:buChar char="§"/>
            </a:pPr>
            <a:endParaRPr lang="en-US" sz="32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lvl="0" indent="-285750">
              <a:lnSpc>
                <a:spcPct val="115000"/>
              </a:lnSpc>
              <a:spcBef>
                <a:spcPts val="0"/>
              </a:spcBef>
              <a:spcAft>
                <a:spcPts val="0"/>
              </a:spcAft>
              <a:buFont typeface="Wingdings" panose="05000000000000000000" pitchFamily="2" charset="2"/>
              <a:buChar char="§"/>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
        <p:nvSpPr>
          <p:cNvPr id="2" name="TextBox 1"/>
          <p:cNvSpPr txBox="1"/>
          <p:nvPr/>
        </p:nvSpPr>
        <p:spPr>
          <a:xfrm>
            <a:off x="3677492" y="1163763"/>
            <a:ext cx="42672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sz="5000" spc="-150" dirty="0">
                <a:solidFill>
                  <a:srgbClr val="FFFFFF"/>
                </a:solidFill>
                <a:latin typeface="Poppins Medium Bold" panose="00000700000000000000"/>
              </a:rPr>
              <a:t>Conclusion</a:t>
            </a:r>
            <a:endParaRPr lang="en-US" sz="5000" dirty="0">
              <a:solidFill>
                <a:srgbClr val="FFFFFF"/>
              </a:solidFill>
              <a:ea typeface="Calibri" panose="020F0502020204030204"/>
              <a:cs typeface="Calibri" panose="020F0502020204030204"/>
            </a:endParaRPr>
          </a:p>
        </p:txBody>
      </p:sp>
      <p:sp>
        <p:nvSpPr>
          <p:cNvPr id="4" name="TextBox 3"/>
          <p:cNvSpPr txBox="1"/>
          <p:nvPr/>
        </p:nvSpPr>
        <p:spPr>
          <a:xfrm>
            <a:off x="0" y="2857502"/>
            <a:ext cx="18135600" cy="5913157"/>
          </a:xfrm>
          <a:prstGeom prst="rect">
            <a:avLst/>
          </a:prstGeom>
          <a:noFill/>
        </p:spPr>
        <p:txBody>
          <a:bodyPr wrap="square" rtlCol="0">
            <a:spAutoFit/>
          </a:bodyPr>
          <a:lstStyle/>
          <a:p>
            <a:pPr>
              <a:lnSpc>
                <a:spcPct val="150000"/>
              </a:lnSpc>
            </a:pPr>
            <a:r>
              <a:rPr lang="en-US" sz="3200" dirty="0">
                <a:latin typeface="Times New Roman" panose="02020603050405020304" pitchFamily="18" charset="0"/>
                <a:cs typeface="Times New Roman" panose="02020603050405020304" pitchFamily="18" charset="0"/>
              </a:rPr>
              <a:t>Our incident response plan for a privileged account compromise emphasizes the importance of swift and coordinated action across all stages—from initial containment to full recovery. By locking out compromised accounts, blocking malicious URLs, and enforcing multi-factor authentication, we quickly contain the threat.</a:t>
            </a:r>
            <a:endParaRPr lang="en-US" sz="3200" dirty="0">
              <a:latin typeface="Times New Roman" panose="02020603050405020304" pitchFamily="18" charset="0"/>
              <a:cs typeface="Times New Roman" panose="02020603050405020304" pitchFamily="18" charset="0"/>
            </a:endParaRPr>
          </a:p>
          <a:p>
            <a:pPr>
              <a:lnSpc>
                <a:spcPct val="150000"/>
              </a:lnSpc>
            </a:pPr>
            <a:r>
              <a:rPr lang="en-US" sz="3200" dirty="0">
                <a:latin typeface="Times New Roman" panose="02020603050405020304" pitchFamily="18" charset="0"/>
                <a:cs typeface="Times New Roman" panose="02020603050405020304" pitchFamily="18" charset="0"/>
              </a:rPr>
              <a:t> Our eradication efforts focus on eliminating the root cause, removing malware, and updating system security measures. Finally, we ensure a secure recovery by applying necessary patches, restoring systems, and maintaining continuous monitoring.</a:t>
            </a:r>
            <a:endParaRPr lang="en-US" sz="3200" dirty="0">
              <a:latin typeface="Times New Roman" panose="02020603050405020304" pitchFamily="18" charset="0"/>
              <a:cs typeface="Times New Roman" panose="02020603050405020304" pitchFamily="18" charset="0"/>
            </a:endParaRPr>
          </a:p>
          <a:p>
            <a:pPr>
              <a:lnSpc>
                <a:spcPct val="150000"/>
              </a:lnSpc>
            </a:pPr>
            <a:r>
              <a:rPr lang="en-US" sz="3200" dirty="0">
                <a:latin typeface="Times New Roman" panose="02020603050405020304" pitchFamily="18" charset="0"/>
                <a:cs typeface="Times New Roman" panose="02020603050405020304" pitchFamily="18" charset="0"/>
              </a:rPr>
              <a:t> This comprehensive approach not only mitigates immediate risks but also fortifies our defenses against future threats, safeguarding Apex Capital's critical assets and maintaining trust with stakeholders. </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rectangle with orange bord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
        <p:nvSpPr>
          <p:cNvPr id="2" name="TextBox 1"/>
          <p:cNvSpPr txBox="1"/>
          <p:nvPr/>
        </p:nvSpPr>
        <p:spPr>
          <a:xfrm>
            <a:off x="3677492" y="1163763"/>
            <a:ext cx="42672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sz="5000" spc="-150" dirty="0">
                <a:solidFill>
                  <a:srgbClr val="FFFFFF"/>
                </a:solidFill>
                <a:latin typeface="Poppins Medium Bold" panose="00000700000000000000"/>
              </a:rPr>
              <a:t>References</a:t>
            </a:r>
            <a:endParaRPr lang="en-US" sz="5000" dirty="0">
              <a:solidFill>
                <a:srgbClr val="FFFFFF"/>
              </a:solidFill>
              <a:ea typeface="Calibri" panose="020F0502020204030204"/>
              <a:cs typeface="Calibri" panose="020F0502020204030204"/>
            </a:endParaRPr>
          </a:p>
        </p:txBody>
      </p:sp>
      <p:sp>
        <p:nvSpPr>
          <p:cNvPr id="4" name="TextBox 3"/>
          <p:cNvSpPr txBox="1"/>
          <p:nvPr/>
        </p:nvSpPr>
        <p:spPr>
          <a:xfrm>
            <a:off x="304800" y="3188657"/>
            <a:ext cx="16459200" cy="6124754"/>
          </a:xfrm>
          <a:prstGeom prst="rect">
            <a:avLst/>
          </a:prstGeom>
          <a:noFill/>
        </p:spPr>
        <p:txBody>
          <a:bodyPr wrap="square" rtlCol="0">
            <a:spAutoFit/>
          </a:bodyPr>
          <a:lstStyle/>
          <a:p>
            <a:r>
              <a:rPr lang="en-US" sz="2800" b="0" i="0" dirty="0" err="1">
                <a:solidFill>
                  <a:srgbClr val="202124"/>
                </a:solidFill>
                <a:effectLst/>
                <a:highlight>
                  <a:srgbClr val="FFFFFF"/>
                </a:highlight>
                <a:latin typeface="Times New Roman" panose="02020603050405020304" pitchFamily="18" charset="0"/>
                <a:cs typeface="Times New Roman" panose="02020603050405020304" pitchFamily="18" charset="0"/>
              </a:rPr>
              <a:t>Delinea</a:t>
            </a:r>
            <a:r>
              <a:rPr lang="en-US" sz="2800" b="0" i="0" dirty="0">
                <a:solidFill>
                  <a:srgbClr val="202124"/>
                </a:solidFill>
                <a:effectLst/>
                <a:highlight>
                  <a:srgbClr val="FFFFFF"/>
                </a:highlight>
                <a:latin typeface="Times New Roman" panose="02020603050405020304" pitchFamily="18" charset="0"/>
                <a:cs typeface="Times New Roman" panose="02020603050405020304" pitchFamily="18" charset="0"/>
              </a:rPr>
              <a:t>. (2023, June 5). Cyber security incident response plan template. </a:t>
            </a:r>
            <a:r>
              <a:rPr lang="en-US" sz="2800" b="0" i="0" dirty="0" err="1">
                <a:solidFill>
                  <a:srgbClr val="202124"/>
                </a:solidFill>
                <a:effectLst/>
                <a:highlight>
                  <a:srgbClr val="FFFFFF"/>
                </a:highlight>
                <a:latin typeface="Times New Roman" panose="02020603050405020304" pitchFamily="18" charset="0"/>
                <a:cs typeface="Times New Roman" panose="02020603050405020304" pitchFamily="18" charset="0"/>
              </a:rPr>
              <a:t>Delinea</a:t>
            </a:r>
            <a:r>
              <a:rPr lang="en-US" sz="2800" b="0" i="0" dirty="0">
                <a:solidFill>
                  <a:srgbClr val="202124"/>
                </a:solidFill>
                <a:effectLst/>
                <a:highlight>
                  <a:srgbClr val="FFFFFF"/>
                </a:highlight>
                <a:latin typeface="Times New Roman" panose="02020603050405020304" pitchFamily="18" charset="0"/>
                <a:cs typeface="Times New Roman" panose="02020603050405020304" pitchFamily="18" charset="0"/>
              </a:rPr>
              <a:t>.</a:t>
            </a:r>
            <a:endParaRPr lang="en-US" sz="2800" b="0" i="0" dirty="0">
              <a:solidFill>
                <a:srgbClr val="202124"/>
              </a:solidFill>
              <a:effectLst/>
              <a:highlight>
                <a:srgbClr val="FFFFFF"/>
              </a:highlight>
              <a:latin typeface="Times New Roman" panose="02020603050405020304" pitchFamily="18" charset="0"/>
              <a:cs typeface="Times New Roman" panose="02020603050405020304" pitchFamily="18" charset="0"/>
            </a:endParaRPr>
          </a:p>
          <a:p>
            <a:r>
              <a:rPr lang="en-US" sz="2800" b="0" i="0" dirty="0">
                <a:solidFill>
                  <a:schemeClr val="accent1"/>
                </a:solidFill>
                <a:effectLst/>
                <a:highlight>
                  <a:srgbClr val="FFFFFF"/>
                </a:highlight>
                <a:latin typeface="Times New Roman" panose="02020603050405020304" pitchFamily="18" charset="0"/>
                <a:cs typeface="Times New Roman" panose="02020603050405020304" pitchFamily="18" charset="0"/>
              </a:rPr>
              <a:t> </a:t>
            </a:r>
            <a:r>
              <a:rPr lang="en-US" sz="2800" b="0" i="0" u="sng" dirty="0">
                <a:solidFill>
                  <a:schemeClr val="accent1"/>
                </a:solidFill>
                <a:effectLst/>
                <a:highlight>
                  <a:srgbClr val="FFFFFF"/>
                </a:highlight>
                <a:latin typeface="Times New Roman" panose="02020603050405020304" pitchFamily="18" charset="0"/>
                <a:cs typeface="Times New Roman" panose="02020603050405020304" pitchFamily="18" charset="0"/>
                <a:hlinkClick r:id="rId2"/>
              </a:rPr>
              <a:t>https://delinea.com/blog/cyber-security-incident-response-plan-template</a:t>
            </a:r>
            <a:endParaRPr lang="en-US" sz="2800" b="0" i="0" u="sng" dirty="0">
              <a:solidFill>
                <a:schemeClr val="accent1"/>
              </a:solidFill>
              <a:effectLst/>
              <a:highlight>
                <a:srgbClr val="FFFFFF"/>
              </a:highlight>
              <a:latin typeface="Times New Roman" panose="02020603050405020304" pitchFamily="18" charset="0"/>
              <a:cs typeface="Times New Roman" panose="02020603050405020304" pitchFamily="18" charset="0"/>
            </a:endParaRPr>
          </a:p>
          <a:p>
            <a:endParaRPr lang="en-US" sz="2800" u="sng" dirty="0">
              <a:solidFill>
                <a:srgbClr val="1967D2"/>
              </a:solidFill>
              <a:highlight>
                <a:srgbClr val="FFFFFF"/>
              </a:highlight>
              <a:latin typeface="Times New Roman" panose="02020603050405020304" pitchFamily="18" charset="0"/>
              <a:cs typeface="Times New Roman" panose="02020603050405020304" pitchFamily="18" charset="0"/>
            </a:endParaRPr>
          </a:p>
          <a:p>
            <a:r>
              <a:rPr lang="en-US" sz="2800" b="0" i="0" u="sng" dirty="0">
                <a:effectLst/>
                <a:highlight>
                  <a:srgbClr val="FFFFFF"/>
                </a:highlight>
                <a:latin typeface="Times New Roman" panose="02020603050405020304" pitchFamily="18" charset="0"/>
                <a:cs typeface="Times New Roman" panose="02020603050405020304" pitchFamily="18" charset="0"/>
              </a:rPr>
              <a:t>National Cancer Institute. (n.d.). NIH incident response plan template [Word document]. Retrieved August 10, 2024, from </a:t>
            </a:r>
            <a:r>
              <a:rPr lang="en-US" sz="2800" b="0" i="0" u="sng" dirty="0">
                <a:solidFill>
                  <a:schemeClr val="accent1"/>
                </a:solidFill>
                <a:effectLst/>
                <a:highlight>
                  <a:srgbClr val="FFFFFF"/>
                </a:highlight>
                <a:latin typeface="Times New Roman" panose="02020603050405020304" pitchFamily="18" charset="0"/>
                <a:cs typeface="Times New Roman" panose="02020603050405020304" pitchFamily="18" charset="0"/>
              </a:rPr>
              <a:t>https://wiki.nci.nih.gov/download/attachments/384206504/NIH%20Incident%20Response%20Plan%20Template.docx?version=1&amp;modificationDate=1551914351000&amp;api=v2 </a:t>
            </a:r>
            <a:endParaRPr lang="en-US" sz="2800" b="0" i="0" u="sng" dirty="0">
              <a:solidFill>
                <a:schemeClr val="accent1"/>
              </a:solidFill>
              <a:effectLst/>
              <a:highlight>
                <a:srgbClr val="FFFFFF"/>
              </a:highlight>
              <a:latin typeface="Times New Roman" panose="02020603050405020304" pitchFamily="18" charset="0"/>
              <a:cs typeface="Times New Roman" panose="02020603050405020304" pitchFamily="18" charset="0"/>
            </a:endParaRPr>
          </a:p>
          <a:p>
            <a:endParaRPr lang="en-US" sz="2800" u="sng" dirty="0">
              <a:solidFill>
                <a:schemeClr val="accent1"/>
              </a:solidFill>
              <a:highlight>
                <a:srgbClr val="FFFFFF"/>
              </a:highlight>
              <a:latin typeface="Times New Roman" panose="02020603050405020304" pitchFamily="18" charset="0"/>
              <a:cs typeface="Times New Roman" panose="02020603050405020304" pitchFamily="18" charset="0"/>
            </a:endParaRPr>
          </a:p>
          <a:p>
            <a:r>
              <a:rPr lang="en-US" sz="2800" b="0" i="0" u="sng" dirty="0">
                <a:effectLst/>
                <a:highlight>
                  <a:srgbClr val="FFFFFF"/>
                </a:highlight>
                <a:latin typeface="Times New Roman" panose="02020603050405020304" pitchFamily="18" charset="0"/>
                <a:cs typeface="Times New Roman" panose="02020603050405020304" pitchFamily="18" charset="0"/>
              </a:rPr>
              <a:t>Group 16. (2024). Compromised privileged account incident response plan. Apex Capital. </a:t>
            </a:r>
            <a:r>
              <a:rPr lang="en-US" sz="2800" b="0" i="0" u="sng" dirty="0">
                <a:solidFill>
                  <a:schemeClr val="accent1"/>
                </a:solidFill>
                <a:effectLst/>
                <a:highlight>
                  <a:srgbClr val="FFFFFF"/>
                </a:highlight>
                <a:latin typeface="Times New Roman" panose="02020603050405020304" pitchFamily="18" charset="0"/>
                <a:cs typeface="Times New Roman" panose="02020603050405020304" pitchFamily="18" charset="0"/>
                <a:hlinkClick r:id="rId3"/>
              </a:rPr>
              <a:t>https://docs.google.com/document/d/1J9yHM5nkYmDYXMcevlm88TXUr9_z1s0R/edit?usp=sharing&amp;ouid=110038836070987119073&amp;rtpof=true&amp;sd=true</a:t>
            </a:r>
            <a:endParaRPr lang="en-US" sz="2800" b="0" i="0" u="sng" dirty="0">
              <a:solidFill>
                <a:schemeClr val="accent1"/>
              </a:solidFill>
              <a:effectLst/>
              <a:highlight>
                <a:srgbClr val="FFFFFF"/>
              </a:highlight>
              <a:latin typeface="Times New Roman" panose="02020603050405020304" pitchFamily="18" charset="0"/>
              <a:cs typeface="Times New Roman" panose="02020603050405020304" pitchFamily="18" charset="0"/>
            </a:endParaRPr>
          </a:p>
          <a:p>
            <a:endParaRPr lang="en-US" sz="2800" b="0" i="0" u="sng" dirty="0">
              <a:solidFill>
                <a:schemeClr val="accent1"/>
              </a:solidFill>
              <a:effectLst/>
              <a:highlight>
                <a:srgbClr val="FFFFFF"/>
              </a:highlight>
              <a:latin typeface="Times New Roman" panose="02020603050405020304" pitchFamily="18" charset="0"/>
              <a:cs typeface="Times New Roman" panose="02020603050405020304" pitchFamily="18" charset="0"/>
            </a:endParaRPr>
          </a:p>
          <a:p>
            <a:endParaRPr lang="en-US" sz="2800" u="sng" dirty="0">
              <a:highlight>
                <a:srgbClr val="FFFFFF"/>
              </a:highlight>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square with white lines&#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 y="0"/>
            <a:ext cx="18285714" cy="10285714"/>
          </a:xfrm>
          <a:prstGeom prst="rect">
            <a:avLst/>
          </a:prstGeom>
        </p:spPr>
      </p:pic>
      <p:sp>
        <p:nvSpPr>
          <p:cNvPr id="2" name="TextBox 31"/>
          <p:cNvSpPr txBox="1"/>
          <p:nvPr/>
        </p:nvSpPr>
        <p:spPr>
          <a:xfrm>
            <a:off x="4937378" y="4448175"/>
            <a:ext cx="8413245" cy="1254189"/>
          </a:xfrm>
          <a:prstGeom prst="rect">
            <a:avLst/>
          </a:prstGeom>
        </p:spPr>
        <p:txBody>
          <a:bodyPr lIns="0" tIns="0" rIns="0" bIns="0" rtlCol="0" anchor="t">
            <a:spAutoFit/>
          </a:bodyPr>
          <a:lstStyle/>
          <a:p>
            <a:pPr algn="ctr">
              <a:lnSpc>
                <a:spcPts val="10800"/>
              </a:lnSpc>
            </a:pPr>
            <a:r>
              <a:rPr lang="en-US" sz="6000" b="1" spc="-420" dirty="0">
                <a:solidFill>
                  <a:srgbClr val="FFFFFF"/>
                </a:solidFill>
                <a:latin typeface="Poppins Medium" panose="00000600000000000000"/>
              </a:rPr>
              <a:t>Thank You</a:t>
            </a:r>
            <a:endParaRPr lang="en-US" sz="6000" b="1" spc="-420" dirty="0">
              <a:solidFill>
                <a:srgbClr val="FFFFFF"/>
              </a:solidFill>
              <a:latin typeface="Poppins Medium" panose="000006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5419</Words>
  <Application>WPS Presentation</Application>
  <PresentationFormat>Custom</PresentationFormat>
  <Paragraphs>134</Paragraphs>
  <Slides>14</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14</vt:i4>
      </vt:variant>
    </vt:vector>
  </HeadingPairs>
  <TitlesOfParts>
    <vt:vector size="33" baseType="lpstr">
      <vt:lpstr>Arial</vt:lpstr>
      <vt:lpstr>SimSun</vt:lpstr>
      <vt:lpstr>Wingdings</vt:lpstr>
      <vt:lpstr>Poppins Medium</vt:lpstr>
      <vt:lpstr>MS Mincho</vt:lpstr>
      <vt:lpstr>Segoe Print</vt:lpstr>
      <vt:lpstr>MS Mincho</vt:lpstr>
      <vt:lpstr>Poppins Medium</vt:lpstr>
      <vt:lpstr>Tahoma</vt:lpstr>
      <vt:lpstr>Times New Roman</vt:lpstr>
      <vt:lpstr>Calibri</vt:lpstr>
      <vt:lpstr>Poppins Medium Bold</vt:lpstr>
      <vt:lpstr>Times</vt:lpstr>
      <vt:lpstr>Calibri</vt:lpstr>
      <vt:lpstr>Symbol</vt:lpstr>
      <vt:lpstr>Microsoft YaHei</vt:lpstr>
      <vt:lpstr>Arial Unicode MS</vt:lpstr>
      <vt:lpstr>Yu Gothic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 CyberGirls Fellowship Deck</dc:title>
  <dc:creator>ADMIN</dc:creator>
  <cp:lastModifiedBy>Ayiba Chinwe</cp:lastModifiedBy>
  <cp:revision>176</cp:revision>
  <dcterms:created xsi:type="dcterms:W3CDTF">2006-08-16T00:00:00Z</dcterms:created>
  <dcterms:modified xsi:type="dcterms:W3CDTF">2026-01-14T18:41:11Z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C5153180359B4CE59CD9DAAE8A90AA7A_13</vt:lpwstr>
  </property>
  <property fmtid="{D5CDD505-2E9C-101B-9397-08002B2CF9AE}" pid="3" name="KSOProductBuildVer">
    <vt:lpwstr>2057-12.2.0.23197</vt:lpwstr>
  </property>
</Properties>
</file>